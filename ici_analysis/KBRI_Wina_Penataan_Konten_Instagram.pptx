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Persentase unggahan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A. Budaya &amp; Pariwisata</c:v>
                  </c:pt>
                  <c:pt idx="1">
                    <c:v>B. Ekonomi &amp; Bisnis</c:v>
                  </c:pt>
                  <c:pt idx="2">
                    <c:v>C. Tata Kelola &amp; Keamanan</c:v>
                  </c:pt>
                  <c:pt idx="3">
                    <c:v>D. Layanan &amp; Protokol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5</c:v>
                </c:pt>
                <c:pt idx="2">
                  <c:v>3</c:v>
                </c:pt>
                <c:pt idx="3">
                  <c:v>73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8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93776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Shape 0"/>
          <p:cNvSpPr/>
          <p:nvPr/>
        </p:nvSpPr>
        <p:spPr>
          <a:xfrm>
            <a:off x="548640" y="6309360"/>
            <a:ext cx="110642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KBRI/PTRI Wina  ·  Fungsi Pensosbud  ·  Bahan diskusi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image" Target="../media/image-7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Penataan Konten Instagram KBRI Wina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Usulan berdasarkan Indonesia Image Index (ICI)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937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Bahan diskusi  ·  Fungsi Pensosbud, KBRI/PTRI Wina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Disusun oleh: Quinta Deyandaputri, Magang Fungsi Pensosbud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Oktober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Latar belakang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212080" cy="3657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Pertanyaan pimpinan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4028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“Bagaimana agar publik Austria melihat Indonesia lebih dari sekadar budaya dan pariwisata?”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4630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Unggahan makin terbatas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96596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Jumlah unggahan kini lebih sedikit dibanding tahun-tahun sebelumnya. Setiap unggahan makin bernilai.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3337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Belum ada pedoman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384048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Pembagian unggahan belum diatur menurut gambaran Indonesia yang ingin dibangun.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Pertanyaan kajian: 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dengan unggahan yang terbatas, gambaran Indonesia seperti apa yang ingin kita sampaikan kepada publik Austria?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Acuan: tiga dimensi Indonesia Image Index (ICI) Kemlu</a:t>
            </a:r>
            <a:endParaRPr lang="en-US" sz="2800" dirty="0"/>
          </a:p>
        </p:txBody>
      </p:sp>
      <p:pic>
        <p:nvPicPr>
          <p:cNvPr id="3" name="Image 0" descr="A. Budaya &amp; Pariwisa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960120" cy="960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783080" y="14173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A. Budaya &amp; Pariwisata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669280" y="141732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Menarik dikunjungi · budaya kaya dan beragam · masyarakat majemuk dan toleran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2359152"/>
            <a:ext cx="110642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pic>
        <p:nvPicPr>
          <p:cNvPr id="7" name="Image 1" descr="B. Ekonomi &amp; Bisni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68880"/>
            <a:ext cx="960120" cy="9601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25146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B. Ekonomi &amp; Bisnis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5669280" y="25146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Ekonomi stabil · prospektif untuk berbisnis · kualitas produk baik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548640" y="3456432"/>
            <a:ext cx="110642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pic>
        <p:nvPicPr>
          <p:cNvPr id="11" name="Image 2" descr="C. Tata Kelola &amp; Keaman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66160"/>
            <a:ext cx="960120" cy="9601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36118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C. Tata Kelola &amp; Keamanan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5669280" y="361188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Aman · demokratis · regulasi jelas dan mudah dipahami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548640" y="4553712"/>
            <a:ext cx="110642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pic>
        <p:nvPicPr>
          <p:cNvPr id="15" name="Image 3" descr="D. Layanan &amp; Protoko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663440"/>
            <a:ext cx="960120" cy="9601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83080" y="47091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D. Layanan &amp; Protokol</a:t>
            </a:r>
            <a:endParaRPr lang="en-US" sz="2200" dirty="0"/>
          </a:p>
        </p:txBody>
      </p:sp>
      <p:sp>
        <p:nvSpPr>
          <p:cNvPr id="17" name="Text 11"/>
          <p:cNvSpPr txBox="1"/>
          <p:nvPr/>
        </p:nvSpPr>
        <p:spPr>
          <a:xfrm>
            <a:off x="5669280" y="470916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Di luar ICI: konsuler, protokol, peringatan hari besar, kegiatan masyarakat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Kategori D tetap tugas resmi Perwakilan; dipisahkan agar pembagian konten terlihat.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Sebagian besar unggahan adalah konten layanan dan protokol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tx2"/>
                </a:solidFill>
              </a:rPr>
              <a:t>73%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unggahan termasuk kategori D: layanan dan protokol (720 dari 992)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38404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1148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Dari 272 unggahan yang membentuk citra,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72% tentang budaya dan pariwisata.</a:t>
            </a:r>
            <a:endParaRPr lang="en-US" sz="1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937760" y="137160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Sumber: 1.000 unggahan @inainvienna, Des 2021 – Okt 2026. Angka sementara sampai pemeriksaan manual selesai.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Sejak Januari 2025, tidak ada unggahan tentang tata kelola dan keamanan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" y="1600200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5296" y="1600200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63624" y="1600200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01952" y="1600200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1600200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78608" y="1600200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16936" y="1600200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55264" y="1600200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93592" y="1600200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1920" y="1600200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0248" y="1600200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1600200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938528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" y="1938528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25296" y="1938528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63624" y="1938528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1952" y="1938528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40280" y="1938528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78608" y="1938528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6936" y="1938528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55264" y="1938528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93592" y="1938528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31920" y="1938528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70248" y="1938528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8576" y="1938528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2276856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6968" y="2276856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5296" y="2276856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63624" y="2276856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01952" y="2276856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40280" y="2276856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78608" y="2276856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16936" y="2276856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55264" y="2276856"/>
            <a:ext cx="2743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93592" y="2276856"/>
            <a:ext cx="274320" cy="274320"/>
          </a:xfrm>
          <a:prstGeom prst="rect">
            <a:avLst/>
          </a:prstGeom>
          <a:solidFill>
            <a:srgbClr val="6F8FBF"/>
          </a:solidFill>
          <a:ln w="12700">
            <a:solidFill>
              <a:srgbClr val="6F8F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31920" y="2276856"/>
            <a:ext cx="274320" cy="274320"/>
          </a:xfrm>
          <a:prstGeom prst="rect">
            <a:avLst/>
          </a:prstGeom>
          <a:solidFill>
            <a:srgbClr val="6F8FBF"/>
          </a:solidFill>
          <a:ln w="12700">
            <a:solidFill>
              <a:srgbClr val="6F8F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70248" y="2276856"/>
            <a:ext cx="274320" cy="274320"/>
          </a:xfrm>
          <a:prstGeom prst="rect">
            <a:avLst/>
          </a:prstGeom>
          <a:solidFill>
            <a:srgbClr val="6F8FBF"/>
          </a:solidFill>
          <a:ln w="12700">
            <a:solidFill>
              <a:srgbClr val="6F8FB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08576" y="2276856"/>
            <a:ext cx="274320" cy="274320"/>
          </a:xfrm>
          <a:prstGeom prst="rect">
            <a:avLst/>
          </a:prstGeom>
          <a:solidFill>
            <a:srgbClr val="6F8FBF"/>
          </a:solidFill>
          <a:ln w="12700">
            <a:solidFill>
              <a:srgbClr val="6F8FB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2615184"/>
            <a:ext cx="274320" cy="274320"/>
          </a:xfrm>
          <a:prstGeom prst="rect">
            <a:avLst/>
          </a:prstGeom>
          <a:solidFill>
            <a:srgbClr val="6F8FBF"/>
          </a:solidFill>
          <a:ln w="12700">
            <a:solidFill>
              <a:srgbClr val="6F8FB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6968" y="2615184"/>
            <a:ext cx="274320" cy="274320"/>
          </a:xfrm>
          <a:prstGeom prst="rect">
            <a:avLst/>
          </a:prstGeom>
          <a:solidFill>
            <a:srgbClr val="6F8FBF"/>
          </a:solidFill>
          <a:ln w="12700">
            <a:solidFill>
              <a:srgbClr val="6F8FB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25296" y="2615184"/>
            <a:ext cx="274320" cy="274320"/>
          </a:xfrm>
          <a:prstGeom prst="rect">
            <a:avLst/>
          </a:prstGeom>
          <a:solidFill>
            <a:srgbClr val="6F8FBF"/>
          </a:solidFill>
          <a:ln w="12700">
            <a:solidFill>
              <a:srgbClr val="6F8FB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63624" y="2615184"/>
            <a:ext cx="274320" cy="274320"/>
          </a:xfrm>
          <a:prstGeom prst="rect">
            <a:avLst/>
          </a:prstGeom>
          <a:solidFill>
            <a:srgbClr val="6F8FBF"/>
          </a:solidFill>
          <a:ln w="12700">
            <a:solidFill>
              <a:srgbClr val="6F8FB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01952" y="2615184"/>
            <a:ext cx="274320" cy="274320"/>
          </a:xfrm>
          <a:prstGeom prst="rect">
            <a:avLst/>
          </a:prstGeom>
          <a:solidFill>
            <a:srgbClr val="6F8FBF"/>
          </a:solidFill>
          <a:ln w="12700">
            <a:solidFill>
              <a:srgbClr val="6F8FB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40280" y="2615184"/>
            <a:ext cx="274320" cy="274320"/>
          </a:xfrm>
          <a:prstGeom prst="rect">
            <a:avLst/>
          </a:prstGeom>
          <a:solidFill>
            <a:srgbClr val="6F8FBF"/>
          </a:solidFill>
          <a:ln w="12700">
            <a:solidFill>
              <a:srgbClr val="6F8FB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78608" y="2615184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16936" y="2615184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55264" y="2615184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93592" y="2615184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931920" y="2615184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70248" y="2615184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08576" y="2615184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8640" y="2953512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6968" y="2953512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225296" y="2953512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563624" y="2953512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2953512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40280" y="2953512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78608" y="2953512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16936" y="2953512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55264" y="2953512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593592" y="2953512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931920" y="2953512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70248" y="2953512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608576" y="2953512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8640" y="3291840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86968" y="3291840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225296" y="3291840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563624" y="3291840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901952" y="3291840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40280" y="3291840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578608" y="3291840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916936" y="3291840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255264" y="3291840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593592" y="3291840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931920" y="3291840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270248" y="3291840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608576" y="3291840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48640" y="3630168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86968" y="3630168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225296" y="3630168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563624" y="3630168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901952" y="3630168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240280" y="3630168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578608" y="3630168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916936" y="3630168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55264" y="3630168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593592" y="3630168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931920" y="3630168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270248" y="3630168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608576" y="3630168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48640" y="3968496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86968" y="3968496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225296" y="3968496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563624" y="3968496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901952" y="3968496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240280" y="3968496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578608" y="3968496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916936" y="3968496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255264" y="3968496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593592" y="3968496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931920" y="3968496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270248" y="3968496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608576" y="3968496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48640" y="4306824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86968" y="4306824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225296" y="4306824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563624" y="4306824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901952" y="4306824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240280" y="4306824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578608" y="4306824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916936" y="4306824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255264" y="4306824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593592" y="4306824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931920" y="4306824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0248" y="4306824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608576" y="4306824"/>
            <a:ext cx="27432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548640" y="4754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 kotak = 1 unggahan  ·  117 unggahan, Jan 2025 – Okt 2026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5486400" y="1709928"/>
            <a:ext cx="32004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5989320" y="1600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35</a:t>
            </a:r>
            <a:endParaRPr lang="en-US" sz="3000" dirty="0"/>
          </a:p>
        </p:txBody>
      </p:sp>
      <p:sp>
        <p:nvSpPr>
          <p:cNvPr id="123" name="Text 121"/>
          <p:cNvSpPr txBox="1"/>
          <p:nvPr/>
        </p:nvSpPr>
        <p:spPr>
          <a:xfrm>
            <a:off x="6949440" y="1600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A. Budaya &amp; Pariwisata</a:t>
            </a:r>
            <a:endParaRPr lang="en-US" sz="2000" dirty="0"/>
          </a:p>
        </p:txBody>
      </p:sp>
      <p:sp>
        <p:nvSpPr>
          <p:cNvPr id="124" name="Shape 122"/>
          <p:cNvSpPr/>
          <p:nvPr/>
        </p:nvSpPr>
        <p:spPr>
          <a:xfrm>
            <a:off x="5486400" y="2487168"/>
            <a:ext cx="320040" cy="320040"/>
          </a:xfrm>
          <a:prstGeom prst="rect">
            <a:avLst/>
          </a:prstGeom>
          <a:solidFill>
            <a:srgbClr val="6F8FBF"/>
          </a:solidFill>
          <a:ln w="12700">
            <a:solidFill>
              <a:srgbClr val="6F8FBF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5989320" y="2377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10</a:t>
            </a:r>
            <a:endParaRPr lang="en-US" sz="3000" dirty="0"/>
          </a:p>
        </p:txBody>
      </p:sp>
      <p:sp>
        <p:nvSpPr>
          <p:cNvPr id="126" name="Text 124"/>
          <p:cNvSpPr txBox="1"/>
          <p:nvPr/>
        </p:nvSpPr>
        <p:spPr>
          <a:xfrm>
            <a:off x="6949440" y="23774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B. Ekonomi &amp; Bisnis</a:t>
            </a:r>
            <a:endParaRPr lang="en-US" sz="2000" dirty="0"/>
          </a:p>
        </p:txBody>
      </p:sp>
      <p:sp>
        <p:nvSpPr>
          <p:cNvPr id="127" name="Shape 125"/>
          <p:cNvSpPr/>
          <p:nvPr/>
        </p:nvSpPr>
        <p:spPr>
          <a:xfrm>
            <a:off x="5486400" y="3264408"/>
            <a:ext cx="320040" cy="3200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5989320" y="3154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0</a:t>
            </a:r>
            <a:endParaRPr lang="en-US" sz="3000" dirty="0"/>
          </a:p>
        </p:txBody>
      </p:sp>
      <p:sp>
        <p:nvSpPr>
          <p:cNvPr id="129" name="Text 127"/>
          <p:cNvSpPr txBox="1"/>
          <p:nvPr/>
        </p:nvSpPr>
        <p:spPr>
          <a:xfrm>
            <a:off x="6949440" y="31546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C. Tata Kelola &amp; Keamanan</a:t>
            </a:r>
            <a:endParaRPr lang="en-US" sz="2000" dirty="0"/>
          </a:p>
        </p:txBody>
      </p:sp>
      <p:sp>
        <p:nvSpPr>
          <p:cNvPr id="130" name="Shape 128"/>
          <p:cNvSpPr/>
          <p:nvPr/>
        </p:nvSpPr>
        <p:spPr>
          <a:xfrm>
            <a:off x="5486400" y="4041648"/>
            <a:ext cx="320040" cy="32004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5989320" y="3931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72</a:t>
            </a:r>
            <a:endParaRPr lang="en-US" sz="3000" dirty="0"/>
          </a:p>
        </p:txBody>
      </p:sp>
      <p:sp>
        <p:nvSpPr>
          <p:cNvPr id="132" name="Text 130"/>
          <p:cNvSpPr txBox="1"/>
          <p:nvPr/>
        </p:nvSpPr>
        <p:spPr>
          <a:xfrm>
            <a:off x="6949440" y="3931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D. Layanan &amp; Protokol</a:t>
            </a:r>
            <a:endParaRPr lang="en-US" sz="2000" dirty="0"/>
          </a:p>
        </p:txBody>
      </p:sp>
      <p:sp>
        <p:nvSpPr>
          <p:cNvPr id="133" name="Text 131"/>
          <p:cNvSpPr txBox="1"/>
          <p:nvPr/>
        </p:nvSpPr>
        <p:spPr>
          <a:xfrm>
            <a:off x="5486400" y="480060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Padahal dimensi inilah yang dinilai masih lemah dalam citra Indonesia. KBRI pernah membuat konten jenis ini, misalnya penjelasan Visa on Arrival (2023) dan Golden Visa (2024).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Usulan: memisahkan konten citra dan konten layanan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434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4" name="Image 0" descr="Konten cit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423160" y="16459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Konten citra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291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Tujuan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2240280" y="32918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Membentuk gambaran publik Austria tentang Indonesia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86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Isi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240280" y="38862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Kategori A, B, dan C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480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Bahasa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240280" y="448056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Jerman dan/atau Inggris (usulan)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074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Pengaturan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240280" y="50749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Proporsi A, B, C ditetapkan pimpinan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17920" y="1371600"/>
            <a:ext cx="5394960" cy="4434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15" name="Image 1" descr="Konten layan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1371600" cy="1371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092440" y="16459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Konten layanan</a:t>
            </a:r>
            <a:endParaRPr lang="en-US" sz="2800" dirty="0"/>
          </a:p>
        </p:txBody>
      </p:sp>
      <p:sp>
        <p:nvSpPr>
          <p:cNvPr id="17" name="Text 13"/>
          <p:cNvSpPr txBox="1"/>
          <p:nvPr/>
        </p:nvSpPr>
        <p:spPr>
          <a:xfrm>
            <a:off x="6492240" y="3291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Tujuan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909560" y="32918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Memberi informasi dan melayani WNI serta mitra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6492240" y="3886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Isi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7909560" y="38862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Konsuler, protokol, peringatan, kegiatan masyarakat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6492240" y="4480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Bahasa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909560" y="448056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Bahasa Indonesia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6492240" y="5074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Pengaturan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7909560" y="50749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Sesuai kebutuhan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Konten layanan tetap tugas resmi Perwakilan. Bentuk penyajiannya (misalnya melalui Stories) dibahas bersama pengelola akun.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KBRI sudah pernah membuat konten untuk ketiga dimensi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A. Budaya &amp; Pariwisata</a:t>
            </a:r>
            <a:endParaRPr lang="en-US" sz="1800" dirty="0"/>
          </a:p>
        </p:txBody>
      </p:sp>
      <p:pic>
        <p:nvPicPr>
          <p:cNvPr id="4" name="Image 0" descr="Jatiluwih, Bali (2024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1691640" cy="1691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5204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Jatiluwih, Bali (2024)</a:t>
            </a:r>
            <a:endParaRPr lang="en-US" sz="1300" dirty="0"/>
          </a:p>
        </p:txBody>
      </p:sp>
      <p:pic>
        <p:nvPicPr>
          <p:cNvPr id="6" name="Image 1" descr="Kelas Bahasa Indonesia, berbahasa Jerman (2025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737360"/>
            <a:ext cx="1691640" cy="1691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31720" y="35204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Kelas Bahasa Indonesia, berbahasa Jerman (2025)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4434840"/>
            <a:ext cx="3520440" cy="13258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452628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Dapat dikembangkan: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Kisah keberagaman dan toleransi (baru 4 unggahan)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43434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B. Ekonomi &amp; Bisnis</a:t>
            </a:r>
            <a:endParaRPr lang="en-US" sz="1800" dirty="0"/>
          </a:p>
        </p:txBody>
      </p:sp>
      <p:pic>
        <p:nvPicPr>
          <p:cNvPr id="11" name="Image 2" descr="Indonesia–Europe Business Forum (2023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737360"/>
            <a:ext cx="1691640" cy="16916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343400" y="35204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Indonesia–Europe Business Forum (2023)</a:t>
            </a:r>
            <a:endParaRPr lang="en-US" sz="1300" dirty="0"/>
          </a:p>
        </p:txBody>
      </p:sp>
      <p:pic>
        <p:nvPicPr>
          <p:cNvPr id="13" name="Image 3" descr="Indonesia Coffee &amp; Culture (2026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737360"/>
            <a:ext cx="1691640" cy="16916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126480" y="35204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Indonesia Coffee &amp; Culture (2026)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4343400" y="4434840"/>
            <a:ext cx="3520440" cy="13258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4480560" y="452628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Dapat dikembangkan: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Data singkat ekonomi Indonesia secara berkala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13816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C. Tata Kelola &amp; Keamanan</a:t>
            </a:r>
            <a:endParaRPr lang="en-US" sz="1800" dirty="0"/>
          </a:p>
        </p:txBody>
      </p:sp>
      <p:pic>
        <p:nvPicPr>
          <p:cNvPr id="18" name="Image 4" descr="Visa on Arrival (2023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737360"/>
            <a:ext cx="1691640" cy="169164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138160" y="35204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Visa on Arrival (2023)</a:t>
            </a:r>
            <a:endParaRPr lang="en-US" sz="1300" dirty="0"/>
          </a:p>
        </p:txBody>
      </p:sp>
      <p:pic>
        <p:nvPicPr>
          <p:cNvPr id="20" name="Image 5" descr="Golden Visa, izin tinggal 10 tahun (2024)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0" y="1737360"/>
            <a:ext cx="1691640" cy="169164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921240" y="35204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Golden Visa, izin tinggal 10 tahun (2024)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8138160" y="4434840"/>
            <a:ext cx="3520440" cy="13258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8275320" y="452628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Dapat dikembangkan: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Penjelasan pemilu dan sistem pemerintahan untuk publik asing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Sumber gambar: akun Instagram @inainvienna. Usulan pengembangan untuk didiskusikan, bukan hasil kajian.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Ukuran keberhasilan: bukan hanya jumlah suka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5176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265176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Proporsi konten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Persentase unggahan per kategori dibanding target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617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Bulanan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64992" y="1417320"/>
            <a:ext cx="265176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64992" y="1417320"/>
            <a:ext cx="265176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7872" y="1417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Jangkauan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246888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Persentase pengikut dan jangkauan dari Austria (Instagram Insights)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4617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Bulanan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81344" y="1417320"/>
            <a:ext cx="265176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1344" y="1417320"/>
            <a:ext cx="265176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64224" y="1417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Persepsi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364224" y="246888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Pertanyaan ICI kepada responden Austria di luar acara KBRI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4617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Tahunan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97696" y="1417320"/>
            <a:ext cx="265176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97696" y="1417320"/>
            <a:ext cx="2651760" cy="82296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0576" y="1417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Respons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180576" y="246888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Suka, komentar, simpan: pelengkap, bukan ukuran utama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180576" y="4617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Bulanan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Indikator ini menunjukkan apakah rencana berjalan dan apakah publik Austria terjangkau. Indikator ini tidak dapat membuktikan bahwa Instagram mengubah persepsi.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Langkah tiga bulan pertama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57600" cy="868680"/>
          </a:xfrm>
          <a:prstGeom prst="chevron">
            <a:avLst/>
          </a:prstGeom>
          <a:solidFill>
            <a:srgbClr val="6F8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417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Bulan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Persiapan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Pemeriksaan manual 50 unggahan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089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Pengelola akun, dibantu magang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576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Data asal pengikut (Instagram Insights)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160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Pengelola akun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7091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Penetapan proporsi awal A, B, C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2120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Pimpinan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1417320"/>
            <a:ext cx="3657600" cy="868680"/>
          </a:xfrm>
          <a:prstGeom prst="chevron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417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Bulan 2–3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Uji coba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6060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Setiap unggahan diberi kategori sebelum terbit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31089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Pengelola akun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36576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Laporan bulanan pembagian konten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4160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Pengelola akun, dibantu magang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0" y="1417320"/>
            <a:ext cx="3657600" cy="868680"/>
          </a:xfrm>
          <a:prstGeom prst="chevron">
            <a:avLst/>
          </a:prstGeom>
          <a:solidFill>
            <a:srgbClr val="6F8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49640" y="1417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Akhir bulan 3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Evaluasi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26060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Tinjauan hasil uji coba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31089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Pimpinan dan Fungsi Pensosbud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36576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Penyesuaian target dan pedoman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4160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Pimpinan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Hal yang dimohonkan arahan pimpinan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1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15087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Dimensi citra mana yang ingin diperkuat di Austria, dan berapa proporsi awalnya?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2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880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Apakah konten layanan dipisahkan dari konten citra?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5196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3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4251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Apakah uji coba tiga bulan dapat dimulai?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Lampiran: catatan dan keterbatasan kajian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Klasifikasi dilakukan otomatis berdasarkan teks keterangan unggahan dan belum diperiksa manual; angka dapat berubah.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Data mencakup 1.000 unggahan terakhir (Desember 2021 – Oktober 2026); Stories tidak termasuk.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Belum ada data asal pengikut, sehingga belum diketahui seberapa jauh akun menjangkau publik Austria.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Kajian ini tidak dapat membuktikan bahwa perubahan konten akan mengubah persepsi publik.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Tampilan visual: dari 999 gambar, tidak ditemukan warna khas yang digunakan secara konsisten.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Rincian metode dan data tersedia dalam dokumen terpisah.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BRI Wina Briefing">
  <a:themeElements>
    <a:clrScheme name="KBRI Wina Briefing">
      <a:dk1>
        <a:srgbClr val="1A1A1A"/>
      </a:dk1>
      <a:lt1>
        <a:srgbClr val="FFFFFF"/>
      </a:lt1>
      <a:dk2>
        <a:srgbClr val="1F3864"/>
      </a:dk2>
      <a:lt2>
        <a:srgbClr val="F2F2F2"/>
      </a:lt2>
      <a:accent1>
        <a:srgbClr val="1F3864"/>
      </a:accent1>
      <a:accent2>
        <a:srgbClr val="6F8FBF"/>
      </a:accent2>
      <a:accent3>
        <a:srgbClr val="C00000"/>
      </a:accent3>
      <a:accent4>
        <a:srgbClr val="D9D9D9"/>
      </a:accent4>
      <a:accent5>
        <a:srgbClr val="595959"/>
      </a:accent5>
      <a:accent6>
        <a:srgbClr val="BFBFBF"/>
      </a:accent6>
      <a:hlink>
        <a:srgbClr val="1F3864"/>
      </a:hlink>
      <a:folHlink>
        <a:srgbClr val="595959"/>
      </a:folHlink>
    </a:clrScheme>
    <a:fontScheme name="KBRI Wina Briefin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Penataan Konten Instagram KBRI Wina</dc:title>
  <dc:subject>PptxGenJS Presentation</dc:subject>
  <dc:creator>Quinta Deyandaputri, Fungsi Pensosbud, KBRI/PTRI Wina</dc:creator>
  <cp:lastModifiedBy>Quinta Deyandaputri, Fungsi Pensosbud, KBRI/PTRI Wina</cp:lastModifiedBy>
  <cp:revision>1</cp:revision>
  <dcterms:created xsi:type="dcterms:W3CDTF">2026-10-02T17:49:10Z</dcterms:created>
  <dcterms:modified xsi:type="dcterms:W3CDTF">2026-10-02T17:49:10Z</dcterms:modified>
</cp:coreProperties>
</file>