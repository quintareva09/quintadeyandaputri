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1A1A1A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1A1A1A"/>
                </a:solidFill>
                <a:latin typeface="+mn-lt"/>
              </a:rPr>
              <a:t>Persentase unggahan menurut kategori (n = 992)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Persentase unggahan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6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A. Budaya &amp; Pariwisata</c:v>
                  </c:pt>
                  <c:pt idx="1">
                    <c:v>B. Ekonomi &amp; Bisnis</c:v>
                  </c:pt>
                  <c:pt idx="2">
                    <c:v>C. Tata Kelola &amp; Keamanan</c:v>
                  </c:pt>
                  <c:pt idx="3">
                    <c:v>D. Layanan &amp; Protokol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20</c:v>
                </c:pt>
                <c:pt idx="1">
                  <c:v>5</c:v>
                </c:pt>
                <c:pt idx="2">
                  <c:v>3</c:v>
                </c:pt>
                <c:pt idx="3">
                  <c:v>73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6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5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1920240"/>
            <a:ext cx="105156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520440"/>
            <a:ext cx="10515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4937760"/>
            <a:ext cx="105156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chemeClr val="accent5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Shape 0"/>
          <p:cNvSpPr/>
          <p:nvPr/>
        </p:nvSpPr>
        <p:spPr>
          <a:xfrm>
            <a:off x="548640" y="6263640"/>
            <a:ext cx="1106424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548640" y="6309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KBRI/PTRI Wina  ·  Fungsi Pensosbud  ·  Bahan diskusi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0936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100">
                <a:solidFill>
                  <a:srgbClr val="5959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0936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100">
                <a:solidFill>
                  <a:srgbClr val="5959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192024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tx2"/>
                </a:solidFill>
              </a:rPr>
              <a:t>Penataan Konten Instagram KBRI Wina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5204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Usulan berdasarkan Indonesia Image Index (ICI)</a:t>
            </a: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493776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Bahan diskusi  ·  Fungsi Pensosbud, KBRI/PTRI Wina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Disusun oleh: Quinta Deyandaputri, Magang Fungsi Pensosbud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Oktober 2026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Latar belakang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4480"/>
            <a:ext cx="110642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Pimpinan menanyakan: bagaimana agar publik Austria melihat Indonesia lebih dari sekadar budaya dan pariwisata?</a:t>
            </a:r>
            <a:endParaRPr lang="en-US" sz="2000" dirty="0"/>
          </a:p>
          <a:p>
            <a:pPr marL="279400" indent="-2794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Jumlah unggahan Instagram KBRI kini lebih terbatas dibanding tahun-tahun sebelumnya, sehingga setiap unggahan semakin bernilai.</a:t>
            </a:r>
            <a:endParaRPr lang="en-US" sz="2000" dirty="0"/>
          </a:p>
          <a:p>
            <a:pPr marL="279400" indent="-2794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Belum ada pedoman yang menentukan pembagian unggahan menurut gambaran Indonesia yang ingin dibangun.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572000"/>
            <a:ext cx="11064240" cy="1280160"/>
          </a:xfrm>
          <a:prstGeom prst="rect">
            <a:avLst/>
          </a:prstGeom>
          <a:solidFill>
            <a:srgbClr val="EDEDED"/>
          </a:solidFill>
          <a:ln/>
        </p:spPr>
        <p:txBody>
          <a:bodyPr wrap="square" lIns="127000" tIns="203200" rIns="203200" bIns="12700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Pertanyaan kajian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Dengan jumlah unggahan yang terbatas, gambaran Indonesia seperti apa yang ingin kita sampaikan kepada publik Austria dari waktu ke waktu?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0936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100">
                <a:solidFill>
                  <a:srgbClr val="5959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Kerangka: tiga dimensi Indonesia Image Index (ICI) Kemlu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77240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Kategori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Unsur yang diukur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A. Budaya &amp; Pariwisata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Menarik dikunjungi; budaya kaya dan beragam; masyarakat majemuk dan toleran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B. Ekonomi &amp; Bisnis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Ekonomi stabil; prospektif untuk berbisnis; kualitas produk baik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C. Tata Kelola &amp; Keamanan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Aman; demokratis; regulasi jelas dan mudah dipahami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accent5"/>
                          </a:solidFill>
                        </a:rPr>
                        <a:t>D. Layanan &amp; Protokol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accent5"/>
                          </a:solidFill>
                        </a:rPr>
                        <a:t>Di luar ICI: layanan konsuler, kegiatan protokoler, peringatan hari besar, kegiatan masyarakat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3492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Kategori D tetap merupakan tugas resmi Perwakilan. Kategori ini dipisahkan agar pembagian konten dapat terlihat.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0936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100">
                <a:solidFill>
                  <a:srgbClr val="5959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Sebagian besar unggahan adalah konten layanan dan protokol</a:t>
            </a:r>
            <a:endParaRPr lang="en-US" sz="28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463040"/>
          <a:ext cx="603504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949440" y="1645920"/>
            <a:ext cx="46634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720 dari 992 unggahan (73%) termasuk kategori D.</a:t>
            </a:r>
            <a:endParaRPr lang="en-US" sz="2000" dirty="0"/>
          </a:p>
          <a:p>
            <a:pPr marL="279400" indent="-2794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Dari 272 unggahan yang membentuk citra, 195 (72%) tentang budaya dan pariwisata.</a:t>
            </a:r>
            <a:endParaRPr lang="en-US" sz="2000" dirty="0"/>
          </a:p>
          <a:p>
            <a:pPr marL="279400" indent="-2794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Ekonomi &amp; bisnis: 50 unggahan. Tata kelola &amp; keamanan: 27 unggahan, dalam hampir lima tahun.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7607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Sumber: 1.000 unggahan @inainvienna, Des 2021 – Okt 2026 (8 unggahan tanpa teks tidak dihitung). Angka bersifat sementara sampai pemeriksaan manual selesai.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0936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100">
                <a:solidFill>
                  <a:srgbClr val="5959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Sejak Januari 2025, tidak ada unggahan tentang tata kelola dan keamanan</a:t>
            </a:r>
            <a:endParaRPr lang="en-US" sz="2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6949440" cy="914400"/>
        </p:xfrm>
        <a:graphic>
          <a:graphicData uri="http://schemas.openxmlformats.org/drawingml/2006/table">
            <a:tbl>
              <a:tblPr/>
              <a:tblGrid>
                <a:gridCol w="3474720"/>
                <a:gridCol w="1828800"/>
                <a:gridCol w="164592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Kategori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Jumlah unggahan</a:t>
                      </a:r>
                      <a:endParaRPr lang="en-US" sz="18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Persentase</a:t>
                      </a:r>
                      <a:endParaRPr lang="en-US" sz="18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A. Budaya &amp; Pariwisata</a:t>
                      </a:r>
                      <a:endParaRPr lang="en-US" sz="18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35</a:t>
                      </a:r>
                      <a:endParaRPr lang="en-US" sz="18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30%</a:t>
                      </a:r>
                      <a:endParaRPr lang="en-US" sz="18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B. Ekonomi &amp; Bisnis</a:t>
                      </a:r>
                      <a:endParaRPr lang="en-US" sz="18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8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9%</a:t>
                      </a:r>
                      <a:endParaRPr lang="en-US" sz="18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accent3"/>
                          </a:solidFill>
                        </a:rPr>
                        <a:t>C. Tata Kelola &amp; Keamanan</a:t>
                      </a:r>
                      <a:endParaRPr lang="en-US" sz="18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b="1" dirty="0">
                          <a:solidFill>
                            <a:schemeClr val="accent3"/>
                          </a:solidFill>
                        </a:rPr>
                        <a:t>0</a:t>
                      </a:r>
                      <a:endParaRPr lang="en-US" sz="18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b="1" dirty="0">
                          <a:solidFill>
                            <a:schemeClr val="accent3"/>
                          </a:solidFill>
                        </a:rPr>
                        <a:t>0%</a:t>
                      </a:r>
                      <a:endParaRPr lang="en-US" sz="18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D. Layanan &amp; Protokol</a:t>
                      </a:r>
                      <a:endParaRPr lang="en-US" sz="18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72</a:t>
                      </a:r>
                      <a:endParaRPr lang="en-US" sz="18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62%</a:t>
                      </a:r>
                      <a:endParaRPr lang="en-US" sz="18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Jumlah</a:t>
                      </a:r>
                      <a:endParaRPr lang="en-US" sz="18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117</a:t>
                      </a:r>
                      <a:endParaRPr lang="en-US" sz="18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100%</a:t>
                      </a:r>
                      <a:endParaRPr lang="en-US" sz="18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955280" y="1645920"/>
            <a:ext cx="3657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Dimensi tata kelola dan keamanan adalah dimensi yang dinilai masih lemah dalam citra Indonesia.</a:t>
            </a:r>
            <a:endParaRPr lang="en-US" sz="1800" dirty="0"/>
          </a:p>
          <a:p>
            <a:pPr marL="279400" indent="-2794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KBRI pernah membuat konten jenis ini, misalnya penjelasan Visa on Arrival (2022–2023) dan izin tinggal 10 tahun (2024).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7607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Periode 1 Januari 2025 – 1 Oktober 2026. Angka bersifat sementara sampai pemeriksaan manual selesai.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0936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100">
                <a:solidFill>
                  <a:srgbClr val="5959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Usulan: memisahkan konten citra dan konten layanan</a:t>
            </a:r>
            <a:endParaRPr lang="en-US" sz="2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480560"/>
                <a:gridCol w="448056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Konten citra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Konten layanan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Tujuan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Membentuk gambaran publik Austria tentang Indonesia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Memberi informasi dan melayani WNI serta mitra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Isi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Kategori A, B, dan C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Konsuler, protokol, peringatan hari besar, kegiatan masyarakat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Sasaran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Publik Austria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WNI dan mitra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Bahasa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Jerman dan/atau Inggris (usulan)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Bahasa Indonesia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Pengaturan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Proporsi A, B, C ditetapkan pimpinan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Sesuai kebutuhan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53212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Konten layanan tetap merupakan tugas resmi Perwakilan. Bentuk penyajiannya (misalnya melalui Stories) dibahas bersama pengelola akun.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0936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100">
                <a:solidFill>
                  <a:srgbClr val="5959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Contoh konten citra yang sudah pernah dibuat KBRI</a:t>
            </a:r>
            <a:endParaRPr lang="en-US" sz="2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4572000"/>
                <a:gridCol w="365760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Kategori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Contoh yang sudah ada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Kemungkinan pengembangan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A. Budaya &amp; Pariwisata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Liputan acara budaya di Austria; kelas BIPA; destinasi wisata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Kisah keberagaman dan toleransi (baru 4 unggahan)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B. Ekonomi &amp; Bisnis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Informasi bagi pelaku usaha Austria (2023); kunjungan Dubes ke Graz (2024); Indonesia Coffee &amp; Culture (2026)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Data singkat ekonomi Indonesia secara berkala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C. Tata Kelola &amp; Keamanan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Penjelasan Visa on Arrival (2022–2023); izin tinggal 10 tahun (2024)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Penjelasan pemilu dan sistem pemerintahan Indonesia untuk publik asing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53212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Kolom “kemungkinan pengembangan” adalah usulan untuk didiskusikan, bukan hasil kajian.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0936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100">
                <a:solidFill>
                  <a:srgbClr val="5959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Ukuran keberhasilan: bukan hanya jumlah suka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6766560"/>
                <a:gridCol w="173736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Indikator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Yang diukur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Frekuensi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Proporsi konten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Persentase unggahan per kategori dibanding target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Bulanan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Jangkauan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Persentase pengikut dan jangkauan dari Austria (Instagram Insights)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Bulanan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Persepsi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Pertanyaan ICI kepada responden Austria di luar acara KBRI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Tahunan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Respons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Suka, komentar, simpan; sebagai pelengkap, bukan ukuran utama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Bulanan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2578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Indikator ini menunjukkan apakah pembagian konten berjalan sesuai rencana dan apakah publik Austria terjangkau. Indikator ini tidak dapat membuktikan bahwa Instagram mengubah persepsi.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0936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100">
                <a:solidFill>
                  <a:srgbClr val="5959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Langkah tiga bulan pertama</a:t>
            </a:r>
            <a:endParaRPr lang="en-US" sz="2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6035040"/>
                <a:gridCol w="338328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Waktu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Kegiatan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Pelaksana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Bulan 1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Pemeriksaan manual 50 unggahan untuk menguji ketepatan klasifikasi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Pengelola akun, dibantu magang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Bulan 1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Pengambilan data asal pengikut dan jangkauan (Instagram Insights)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Pengelola akun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Bulan 1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Penetapan proporsi awal kategori A, B, C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Pimpinan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Bulan 2–3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Uji coba: setiap unggahan diberi kategori sebelum terbit; laporan bulanan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Pengelola akun, dibantu magang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Bulan 3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Evaluasi dan penyesuaian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Pimpinan dan Fungsi Pensosbud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0936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100">
                <a:solidFill>
                  <a:srgbClr val="5959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Hal yang dimohonkan arahan pimpinan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737360"/>
            <a:ext cx="11064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400"/>
              </a:spcAft>
              <a:buSzPct val="100000"/>
              <a:buFont typeface="+mj-lt"/>
              <a:buAutoNum type="arabicPeriod" startAt="1"/>
            </a:pPr>
            <a:r>
              <a:rPr lang="en-US" sz="2400" dirty="0">
                <a:solidFill>
                  <a:schemeClr val="tx1"/>
                </a:solidFill>
              </a:rPr>
              <a:t>Dimensi citra mana yang ingin diperkuat di Austria, dan berapa proporsi awalnya?</a:t>
            </a:r>
            <a:endParaRPr lang="en-US" sz="2400" dirty="0"/>
          </a:p>
          <a:p>
            <a:pPr marL="342900" indent="-342900">
              <a:spcAft>
                <a:spcPts val="2400"/>
              </a:spcAft>
              <a:buSzPct val="100000"/>
              <a:buFont typeface="+mj-lt"/>
              <a:buAutoNum type="arabicPeriod" startAt="1"/>
            </a:pPr>
            <a:r>
              <a:rPr lang="en-US" sz="2400" dirty="0">
                <a:solidFill>
                  <a:schemeClr val="tx1"/>
                </a:solidFill>
              </a:rPr>
              <a:t>Apakah konten layanan dipisahkan dari konten citra?</a:t>
            </a:r>
            <a:endParaRPr lang="en-US" sz="2400" dirty="0"/>
          </a:p>
          <a:p>
            <a:pPr marL="342900" indent="-342900">
              <a:spcAft>
                <a:spcPts val="2400"/>
              </a:spcAft>
              <a:buSzPct val="100000"/>
              <a:buFont typeface="+mj-lt"/>
              <a:buAutoNum type="arabicPeriod" startAt="1"/>
            </a:pPr>
            <a:r>
              <a:rPr lang="en-US" sz="2400" dirty="0">
                <a:solidFill>
                  <a:schemeClr val="tx1"/>
                </a:solidFill>
              </a:rPr>
              <a:t>Apakah uji coba tiga bulan dapat dimulai?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0936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100">
                <a:solidFill>
                  <a:srgbClr val="5959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Lampiran: catatan dan keterbatasan kajian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4480"/>
            <a:ext cx="1106424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Klasifikasi dilakukan secara otomatis berdasarkan teks keterangan unggahan dan belum diperiksa secara manual; angka dapat berubah.</a:t>
            </a:r>
            <a:endParaRPr lang="en-US" sz="18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Data mencakup 1.000 unggahan terakhir (Desember 2021 – Oktober 2026); Stories tidak termasuk.</a:t>
            </a:r>
            <a:endParaRPr lang="en-US" sz="18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Belum ada data asal pengikut, sehingga belum diketahui seberapa jauh akun menjangkau publik Austria.</a:t>
            </a:r>
            <a:endParaRPr lang="en-US" sz="18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Kajian ini tidak dapat membuktikan bahwa perubahan konten akan mengubah persepsi publik.</a:t>
            </a:r>
            <a:endParaRPr lang="en-US" sz="18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Tampilan visual: dari 999 gambar, tidak ditemukan warna khas yang digunakan secara konsisten.</a:t>
            </a:r>
            <a:endParaRPr lang="en-US" sz="18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Rincian metode dan data tersedia dalam dokumen terpisah.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0936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100">
                <a:solidFill>
                  <a:srgbClr val="5959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BRI Wina Briefing">
  <a:themeElements>
    <a:clrScheme name="KBRI Wina Briefing">
      <a:dk1>
        <a:srgbClr val="1A1A1A"/>
      </a:dk1>
      <a:lt1>
        <a:srgbClr val="FFFFFF"/>
      </a:lt1>
      <a:dk2>
        <a:srgbClr val="1F3864"/>
      </a:dk2>
      <a:lt2>
        <a:srgbClr val="EDEDED"/>
      </a:lt2>
      <a:accent1>
        <a:srgbClr val="1F3864"/>
      </a:accent1>
      <a:accent2>
        <a:srgbClr val="A6A6A6"/>
      </a:accent2>
      <a:accent3>
        <a:srgbClr val="C00000"/>
      </a:accent3>
      <a:accent4>
        <a:srgbClr val="D9D9D9"/>
      </a:accent4>
      <a:accent5>
        <a:srgbClr val="595959"/>
      </a:accent5>
      <a:accent6>
        <a:srgbClr val="7F7F7F"/>
      </a:accent6>
      <a:hlink>
        <a:srgbClr val="1F3864"/>
      </a:hlink>
      <a:folHlink>
        <a:srgbClr val="595959"/>
      </a:folHlink>
    </a:clrScheme>
    <a:fontScheme name="KBRI Wina Briefing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Penataan Konten Instagram KBRI Wina</dc:title>
  <dc:subject>PptxGenJS Presentation</dc:subject>
  <dc:creator>Fungsi Pensosbud, KBRI/PTRI Wina</dc:creator>
  <cp:lastModifiedBy>Fungsi Pensosbud, KBRI/PTRI Wina</cp:lastModifiedBy>
  <cp:revision>1</cp:revision>
  <dcterms:created xsi:type="dcterms:W3CDTF">2026-10-02T17:37:30Z</dcterms:created>
  <dcterms:modified xsi:type="dcterms:W3CDTF">2026-10-02T17:37:30Z</dcterms:modified>
</cp:coreProperties>
</file>