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KBRI/PTRI WINA  |  FUNGSI PENSOSBUD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WORKING DRAFT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KBRI/PTRI WINA  |  FUNGSI PENSOSBUD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UNGGAHAN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CITRA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76656" y="2761488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alokasi konten @inainvienna untuk menjawab pertanyaan citra Indonesia di Austria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52360" y="114300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481328"/>
            <a:ext cx="3154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strategis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856232"/>
            <a:ext cx="3127248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media sosial KBRI dapat membantu memperluas persepsi publik Austria tentang Indonesia — melampaui culture &amp; tourism?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0" y="3703320"/>
            <a:ext cx="2286000" cy="0"/>
          </a:xfrm>
          <a:prstGeom prst="line">
            <a:avLst/>
          </a:prstGeom>
          <a:noFill/>
          <a:ln w="3048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977640"/>
            <a:ext cx="2926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1.000 unggahan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Des 2021 – 1 Okt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4882896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48828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DISKUSI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5897880"/>
            <a:ext cx="6492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 [Nama], magang Fungsi Pensosbud, sebagai bahan diskusi bersama pengelola akun dan pimpinan.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Tantangan yang ingin dijawab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publikasi kini lebih terbatas dibanding tahun-tahun sebelumnya; karena itu setiap unggahan membawa bobot lebih besar.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90472"/>
            <a:ext cx="4096512" cy="4251960"/>
          </a:xfrm>
          <a:prstGeom prst="roundRect">
            <a:avLst>
              <a:gd name="adj" fmla="val 178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PIMPINAN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3493008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“Bagaimana membuat audiens Austria melihat Indonesia lebih luas dari culture &amp; tourism?”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96112" y="3657600"/>
            <a:ext cx="265176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931920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lensa media sosial: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4261104"/>
            <a:ext cx="3456432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jumlah unggahan yang terbatas, dimensi Indonesia apa yang ingin kita tampilkan berulang kali sehingga menjadi citra yang terbaca?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72768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UNGGAHAN PER TAHUN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0368" y="2075688"/>
            <a:ext cx="713232" cy="315468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792224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5312664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19088" y="3941491"/>
            <a:ext cx="713232" cy="128887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658027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5312664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07808" y="4457042"/>
            <a:ext cx="713232" cy="773326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4173578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5312664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96528" y="4806880"/>
            <a:ext cx="713232" cy="4234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4523416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5312664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85248" y="4935768"/>
            <a:ext cx="713232" cy="29460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4652304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0" y="5312664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YTD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5230368"/>
            <a:ext cx="58064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termasuk 148 infografis COVID harian; tanpa seri itu sekitar 360 unggahan.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5779008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5879592"/>
            <a:ext cx="5166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Implikasi: semakin sedikit slot, semakin besar bobot strategis tiap unggahan.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riwayat unggahan @inainvienna. 2026 bersifat YTD sampai 1 Oktober.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Apa yang dikomunikasikan sekarang?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sementara menggunakan codebook ICI yang tertulis dan auditable; validasi 30-post masih harus diselesaikan.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6446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DATA  |  n=992   ·   A 20%  ·  B 5%  ·  C 3%  ·  D 73%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6446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SEJAK JANUARI 2025  |  n=117   ·   A 30%  ·  B 9%  ·  C 0%  ·  D 62%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1269964" cy="512064"/>
          </a:xfrm>
          <a:prstGeom prst="rect">
            <a:avLst/>
          </a:prstGeom>
          <a:solidFill>
            <a:srgbClr val="B45309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11680"/>
            <a:ext cx="12699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20%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983196" y="1920240"/>
            <a:ext cx="322326" cy="512064"/>
          </a:xfrm>
          <a:prstGeom prst="rect">
            <a:avLst/>
          </a:prstGeom>
          <a:solidFill>
            <a:srgbClr val="1D4E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3196" y="2011680"/>
            <a:ext cx="32232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305522" y="1920240"/>
            <a:ext cx="174056" cy="512064"/>
          </a:xfrm>
          <a:prstGeom prst="rect">
            <a:avLst/>
          </a:prstGeom>
          <a:solidFill>
            <a:srgbClr val="04785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5522" y="2011680"/>
            <a:ext cx="17405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479578" y="1920240"/>
            <a:ext cx="4680173" cy="512064"/>
          </a:xfrm>
          <a:prstGeom prst="rect">
            <a:avLst/>
          </a:prstGeom>
          <a:solidFill>
            <a:srgbClr val="9CA3A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9578" y="2011680"/>
            <a:ext cx="4680173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73%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13232" y="3136392"/>
            <a:ext cx="1929438" cy="512064"/>
          </a:xfrm>
          <a:prstGeom prst="rect">
            <a:avLst/>
          </a:prstGeom>
          <a:solidFill>
            <a:srgbClr val="B45309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27832"/>
            <a:ext cx="192943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30%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642670" y="3136392"/>
            <a:ext cx="548502" cy="512064"/>
          </a:xfrm>
          <a:prstGeom prst="rect">
            <a:avLst/>
          </a:prstGeom>
          <a:solidFill>
            <a:srgbClr val="1D4E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173" y="3136392"/>
            <a:ext cx="3968578" cy="512064"/>
          </a:xfrm>
          <a:prstGeom prst="rect">
            <a:avLst/>
          </a:prstGeom>
          <a:solidFill>
            <a:srgbClr val="9CA3A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173" y="3227832"/>
            <a:ext cx="39685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62%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13232" y="4005072"/>
            <a:ext cx="164592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Culture &amp; Tourism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70632" y="4005072"/>
            <a:ext cx="164592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Economy &amp; Business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28032" y="4005072"/>
            <a:ext cx="164592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Governance &amp; Safety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" y="4370832"/>
            <a:ext cx="164592" cy="16459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Service / Protocol / Community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155448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1810512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HAL YANG TERLIHAT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27848" y="22128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21040" y="2157984"/>
            <a:ext cx="276148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unggahan (720 dari 992) melayani fungsi misi di luar tiga dimensi ICI (D).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27848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21040" y="2944368"/>
            <a:ext cx="276148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antara konten pembangun citra (n=272), A mendominasi (72%). B: 50 unggahan, C: 27 unggahan dalam lima tahun.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927848" y="3913632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3822192"/>
            <a:ext cx="2761488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Sejak Januari 2025, Governance &amp; Safety: 0 dari 117 unggahan.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927848" y="507492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5175504"/>
            <a:ext cx="28163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“konten salah”. Yang belum ada adalah governing allocation.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A/B/C/D = codebook berbasis aturan, bukan machine learning. Angka masih sementara sampai validasi manual selesai.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ICI memberi bahasa institusional untuk menjawab tantangan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ini bukan dibuat untuk Instagram; ia sudah digunakan Kementerian untuk mengukur citra Indonesia.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2487168" cy="3383280"/>
          </a:xfrm>
          <a:prstGeom prst="roundRect">
            <a:avLst>
              <a:gd name="adj" fmla="val 294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1920240"/>
            <a:ext cx="658368" cy="6583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1214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&amp; Tourism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202996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Menarik untuk dikunjungi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 &amp; beragam secara budaya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 &amp; toleran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664208"/>
            <a:ext cx="2487168" cy="3383280"/>
          </a:xfrm>
          <a:prstGeom prst="roundRect">
            <a:avLst>
              <a:gd name="adj" fmla="val 294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920240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21214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 &amp; Business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355848"/>
            <a:ext cx="202996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 secara ekonomi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Prospektif untuk bisnis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Kualitas produk baik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64208"/>
            <a:ext cx="2487168" cy="3383280"/>
          </a:xfrm>
          <a:prstGeom prst="roundRect">
            <a:avLst>
              <a:gd name="adj" fmla="val 2941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9752" y="1920240"/>
            <a:ext cx="658368" cy="65836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1214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Safety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355848"/>
            <a:ext cx="202996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Demokratis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jelas &amp; mudah dipahami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6840" y="3310128"/>
            <a:ext cx="576072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46920" y="1664208"/>
            <a:ext cx="1783080" cy="3383280"/>
          </a:xfrm>
          <a:prstGeom prst="roundRect">
            <a:avLst>
              <a:gd name="adj" fmla="val 4103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22992" y="1920240"/>
            <a:ext cx="658368" cy="65836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22992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857232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lane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57232" y="3364992"/>
            <a:ext cx="137160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Ceremonial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376672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522976"/>
            <a:ext cx="10195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sistem: membuat A/B/C/D terlihat sebelum publikasi, bukan baru ditebak setelah satu tahun.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bukan kategori “buruk”; D tetap fungsi misi yang sah. Sistem hanya memisahkan fungsi operasional dan image-building agar alokasi dapat dibaca.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Struktur historis akun tidak otomatis mengikuti dimensi ICI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dibiarkan tumbuh secara organik, topik cenderung mengikuti event/operasional — bukan kerangka citra Kementerian.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CAPTION SELARAS DENGAN APA?  |  Cramér's V (0–1), n=991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960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(repost)</a:t>
            </a:r>
            <a:endParaRPr lang="en-US" sz="1060" dirty="0"/>
          </a:p>
        </p:txBody>
      </p:sp>
      <p:sp>
        <p:nvSpPr>
          <p:cNvPr id="6" name="Shape 4"/>
          <p:cNvSpPr/>
          <p:nvPr/>
        </p:nvSpPr>
        <p:spPr>
          <a:xfrm>
            <a:off x="1737360" y="2066544"/>
            <a:ext cx="498348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30568" y="2011680"/>
            <a:ext cx="502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960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1737360" y="2843784"/>
            <a:ext cx="4586565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3653" y="2788920"/>
            <a:ext cx="502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960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737360" y="3621024"/>
            <a:ext cx="3256167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5" y="3566160"/>
            <a:ext cx="502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960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1737360" y="4398264"/>
            <a:ext cx="3109162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250" y="4343400"/>
            <a:ext cx="502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120640"/>
            <a:ext cx="960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 ICI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737360" y="5175504"/>
            <a:ext cx="256524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2330" y="5120640"/>
            <a:ext cx="502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42048" y="1856232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18562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lemah: silhouette 0,13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50608" y="235915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2651760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Makna manajerial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24928" y="3026664"/>
            <a:ext cx="349300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 yang muncul dari caption lebih mengikuti sumber unggahan dan bahasa daripada dimensi ICI.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24928" y="3986784"/>
            <a:ext cx="34930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Artinya: tanpa allocation rule, struktur akan mengikuti apa yang sedang terjadi — bukan otomatis mengikuti A/B/C.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50608" y="4983480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5129784"/>
            <a:ext cx="3611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Usulan: content pillar sebagai lapisan perencanaan — bukan karena “feed terlihat berantakan”.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k-means (k=15) atas 991 caption. Cramér's V antar variabel hanya kira-kira sebanding. Rincian di annex.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Apa yang berubah secara operasional?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produksi post-by-post menjadi sistem planning → publishing → review yang sederhana.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172821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kalender 1 bulan ke depan.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event/isu ke A/B/C/D.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24912" y="3566160"/>
            <a:ext cx="19202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53512" y="187452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18104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18104" y="3154680"/>
            <a:ext cx="172821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post punya 5 field: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· audience · language · format · objective.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38344" y="3566160"/>
            <a:ext cx="19202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66944" y="187452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31536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31536" y="3154680"/>
            <a:ext cx="172821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 tetap fleksibel.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bukan satu desain untuk semua.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51776" y="3566160"/>
            <a:ext cx="19202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0376" y="187452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44968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44968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44968" y="3154680"/>
            <a:ext cx="172821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planned vs actual allocation setiap bulan.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65208" y="3566160"/>
            <a:ext cx="19202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93808" y="1874520"/>
            <a:ext cx="2057400" cy="333756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0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0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0" y="3154680"/>
            <a:ext cx="172821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 1-page dashboard ke lead/DCM untuk keputusan berikutnya.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59552"/>
            <a:ext cx="10881360" cy="576072"/>
          </a:xfrm>
          <a:prstGeom prst="roundRect">
            <a:avLst>
              <a:gd name="adj" fmla="val 126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678424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Prinsip: sistem cukup sederhana untuk dijalankan tim, tetapi cukup terstruktur untuk menghasilkan data yang bisa dibahas pimpinan.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persentase A/B/C/D belum ditetapkan oleh data; target mix harus menjadi keputusan pimpinan setelah validasi.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KPI untuk Pensosbud: dari “engagement” ke strategic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bukan KPI. Pillar membuat KPI yang relevan dengan pertanyaan DCM menjadi mungkin.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29384"/>
            <a:ext cx="512064" cy="51206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6192" y="1920240"/>
            <a:ext cx="1783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587752"/>
            <a:ext cx="25603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kita komunikasikan?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273552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154680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&amp; share A/B/C/D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950976" y="3758184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3639312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950976" y="4242816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4123944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image-building vs D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096512" y="1664208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9384"/>
            <a:ext cx="512064" cy="51206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46904" y="1920240"/>
            <a:ext cx="1783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response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2587752"/>
            <a:ext cx="25603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audiens merespons?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1688" y="3273552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3154680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by pillar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4361688" y="3758184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639312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format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4361688" y="4242816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23944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deskriptif, bukan kausal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7507224" y="1664208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08392" y="1929384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7616" y="1920240"/>
            <a:ext cx="1783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08392" y="2587752"/>
            <a:ext cx="25603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citra bergerak?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0" y="3273552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27848" y="3154680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ICI A/B/C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7772400" y="3758184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7848" y="3639312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respondent n + sample source</a:t>
            </a:r>
            <a:endParaRPr lang="en-US" sz="1170" dirty="0"/>
          </a:p>
        </p:txBody>
      </p:sp>
      <p:sp>
        <p:nvSpPr>
          <p:cNvPr id="35" name="Shape 33"/>
          <p:cNvSpPr/>
          <p:nvPr/>
        </p:nvSpPr>
        <p:spPr>
          <a:xfrm>
            <a:off x="7772400" y="4242816"/>
            <a:ext cx="73152" cy="731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27848" y="4123944"/>
            <a:ext cx="22128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mengklaim Instagram menyebabkan perubahan</a:t>
            </a:r>
            <a:endParaRPr lang="en-US" sz="1170" dirty="0"/>
          </a:p>
        </p:txBody>
      </p:sp>
      <p:sp>
        <p:nvSpPr>
          <p:cNvPr id="37" name="Shape 35"/>
          <p:cNvSpPr/>
          <p:nvPr/>
        </p:nvSpPr>
        <p:spPr>
          <a:xfrm>
            <a:off x="685800" y="5559552"/>
            <a:ext cx="9144000" cy="576072"/>
          </a:xfrm>
          <a:prstGeom prst="roundRect">
            <a:avLst>
              <a:gd name="adj" fmla="val 12698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650992"/>
            <a:ext cx="8641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 dapat memberi arah (“perkuat ekonomi/governance”), dan Pensosbud dapat menunjukkan apakah arah itu benar-benar tercermin dalam alokasi konten.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012680" y="566928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mix = keputusan pimpinan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historical follower count, engagement lintas waktu tetap confounded. Gunakan sebagai indikator respons, bukan bukti sebab-akibat.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Pilot kecil sebelum institutionalisation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pilot: membuktikan bahwa sistemnya bisa dipakai, bukan langsung mengubah seluruh cara kerja.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2130552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30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2615184"/>
            <a:ext cx="1508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" y="3246120"/>
            <a:ext cx="149961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Hand-code 30 post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pengelola akun + magang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cek agreement &amp; bias D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578608" y="3547872"/>
            <a:ext cx="27432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7792" y="1901952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2130552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130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72384" y="2615184"/>
            <a:ext cx="1508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2384" y="3246120"/>
            <a:ext cx="149961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periode terkini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(sejak Jan 2025) sebagai baseline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bukan hanya agregat 1.000 post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800600" y="3547872"/>
            <a:ext cx="27432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9784" y="1901952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94376" y="2130552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376" y="2130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94376" y="2615184"/>
            <a:ext cx="1508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1 BULAN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94376" y="3246120"/>
            <a:ext cx="149961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tracker untuk setiap post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pillar, audience, language,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objective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022592" y="3547872"/>
            <a:ext cx="27432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1776" y="1901952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130552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2130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16368" y="2615184"/>
            <a:ext cx="1508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REVIEW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16368" y="3246120"/>
            <a:ext cx="149961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planned vs actual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lihat gap allocation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diskusikan bersama lead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9244584" y="3547872"/>
            <a:ext cx="27432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73768" y="1901952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2130552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213055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38360" y="2615184"/>
            <a:ext cx="1508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38360" y="3246120"/>
            <a:ext cx="149961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menentukan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mix &amp; prioritas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baru institutionalise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85800" y="5568696"/>
            <a:ext cx="10771632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5669280"/>
            <a:ext cx="10195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 akun tetap memimpin; magang membantu tracker dan coding. Tidak ada kuota sebelum validasi.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final hanya setelah validasi manual. Jika agreement rendah, codebook direvisi dan analisis diulang.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Apa yang perlu diputuskan pimpinan?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memberi visibility; prioritas tetap keputusan manajerial.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1328" y="1572768"/>
            <a:ext cx="5897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 citra mana yang ingin diperkuat di Austria?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2084832"/>
            <a:ext cx="6016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 / C dapat berbeda bobot sesuai prioritas misi.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2624328"/>
            <a:ext cx="10469880" cy="0"/>
          </a:xfrm>
          <a:prstGeom prst="line">
            <a:avLst/>
          </a:prstGeom>
          <a:noFill/>
          <a:ln w="1143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926080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2608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2898648"/>
            <a:ext cx="5897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ruang yang perlu tetap dialokasikan untuk fungsi D?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3410712"/>
            <a:ext cx="6016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Consular, protocol, ceremonial, dan community tetap merupakan fungsi 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950208"/>
            <a:ext cx="10469880" cy="0"/>
          </a:xfrm>
          <a:prstGeom prst="line">
            <a:avLst/>
          </a:prstGeom>
          <a:noFill/>
          <a:ln w="1143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251960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5196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81328" y="4224528"/>
            <a:ext cx="5897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tracker + monthly dashboard layak menjadi operating routine?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4736592"/>
            <a:ext cx="6016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ya, target mix baru ditetapkan setelah pilot dan validasi.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276088"/>
            <a:ext cx="10469880" cy="0"/>
          </a:xfrm>
          <a:prstGeom prst="line">
            <a:avLst/>
          </a:prstGeom>
          <a:noFill/>
          <a:ln w="1143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60020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901952"/>
            <a:ext cx="2377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02752" y="2331720"/>
            <a:ext cx="281635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slot publikasi yang terbatas, setiap unggahan membawa bobot strategis lebih besar.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02752" y="3456432"/>
            <a:ext cx="178308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3767328"/>
            <a:ext cx="2816352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 dapat dipakai sebagai governing framework agar Pensosbud tahu apa yang sedang dibangun, kepada siapa, dan dapat melaporkannya secara bulanan.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ini mendukung visibility dan governance; ia tidak menentukan sendiri prioritas kebijakan komunikasi.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A. Metode &amp; safeguards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teknis tersedia untuk audit; tidak perlu menjadi bahasa utama dalam briefing pimpinan.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10771632" cy="658368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45920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07792" y="1645920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baris; 1.688 kolom; 14 Des 2021 – 1 Okt 2026.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0771632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A/B/C/D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07792" y="2304288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codebook tertulis; bukan machine learning. Setiap label dapat ditelusuri.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10771632" cy="658368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62656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07792" y="2962656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post untuk human coding; sample perlu stratified by caption length untuk menguji bias D.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85800" y="3511296"/>
            <a:ext cx="10771632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21024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07792" y="3621024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k-means + hierarchical clustering; dipakai hanya untuk melihat struktur natural akun.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10771632" cy="658368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279392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07792" y="4279392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lemah (silhouette 0,13; k=15). Cluster lebih selaras dengan sumber &amp; bahasa daripada dimensi ICI.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85800" y="4828032"/>
            <a:ext cx="10771632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937760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07792" y="4937760"/>
            <a:ext cx="81564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Observasional; tanpa follower history. Tidak digunakan untuk klaim kausal.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B. Batasan yang harus tetap terlihat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6072" y="10058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baik membawa tiga temuan defensible daripada sepuluh klaim yang mudah dipatahkan.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58952" y="1581912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463040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ICI masih provisional sampai validasi manual selesai.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758952" y="2240280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21408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adalah partial year; perbandingan volume full-year harus dibaca hati-hati.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58952" y="289864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779776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Agregat 1.000 post sangat berat ke 2022; karena itu recent-period baseline perlu ditampilkan terpisah.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8952" y="3557016"/>
            <a:ext cx="146304" cy="1463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38144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D dapat dipengaruhi panjang caption; validation sample harus stratified by caption length.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58952" y="4215384"/>
            <a:ext cx="146304" cy="1463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96512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historical follower count; engagement lintas waktu confounded.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58952" y="4873752"/>
            <a:ext cx="146304" cy="1463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754880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sampel persepsi Austria yang representatif; 10–20 event respondents hanya indicative dan self-selected.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758952" y="5532120"/>
            <a:ext cx="146304" cy="1463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5413248"/>
            <a:ext cx="100584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Warna: 999 gambar dianalisis — tidak ada warna aksen berulang (netral 71%, tidak ada cluster berwarna &gt;9%). Mengukur warna dominan foto, bukan desain.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713232" y="6053328"/>
            <a:ext cx="10652760" cy="365760"/>
          </a:xfrm>
          <a:prstGeom prst="roundRect">
            <a:avLst>
              <a:gd name="adj" fmla="val 2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6099048"/>
            <a:ext cx="10149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temuan menggambarkan sistem perencanaan konten, bukan kinerja individu.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66928" y="65196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internal. Semua angka klasifikasi harus diperbarui jika hasil validasi mengubah codebook.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486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KBRI/PTRI Wina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Dari Unggahan ke Citra</dc:title>
  <dc:subject>KBRI/PTRI Wina - ICI-based content allocation brief</dc:subject>
  <dc:creator>OpenAI</dc:creator>
  <cp:lastModifiedBy>OpenAI</cp:lastModifiedBy>
  <cp:revision>1</cp:revision>
  <dcterms:created xsi:type="dcterms:W3CDTF">2026-10-02T17:24:17Z</dcterms:created>
  <dcterms:modified xsi:type="dcterms:W3CDTF">2026-10-02T17:24:17Z</dcterms:modified>
</cp:coreProperties>
</file>